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A46C6F2-B8C9-14A9-0AE1-CEA6963637FE}">
          <p14:sldIdLst>
            <p14:sldId id="256"/>
            <p14:sldId id="257"/>
          </p14:sldIdLst>
        </p14:section>
        <p14:section name="Technology" id="{8E6C0941-BF85-F5A3-200C-5B714D1DF574}">
          <p14:sldIdLst>
            <p14:sldId id="258"/>
            <p14:sldId id="259"/>
          </p14:sldIdLst>
        </p14:section>
        <p14:section name="How it works" id="{80B1520D-303A-98E7-8881-1A2B765ED40F}">
          <p14:sldIdLst>
            <p14:sldId id="260"/>
            <p14:sldId id="261"/>
            <p14:sldId id="262"/>
            <p14:sldId id="263"/>
            <p14:sldId id="264"/>
          </p14:sldIdLst>
        </p14:section>
        <p14:section name="Software" id="{0D3D2578-8FE4-AB8C-5CB3-C873779F013A}">
          <p14:sldIdLst>
            <p14:sldId id="265"/>
            <p14:sldId id="266"/>
          </p14:sldIdLst>
        </p14:section>
        <p14:section name="Results" id="{27145098-9B2C-F481-46AE-760FC5D5F4F0}">
          <p14:sldIdLst>
            <p14:sldId id="267"/>
          </p14:sldIdLst>
        </p14:section>
        <p14:section name="Conclusion" id="{B14576ED-F116-2D14-B19C-DE14E9E5A644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261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3261C"/>
                </a:solidFill>
                <a:latin typeface="+mn-lt"/>
              </a:rPr>
              <a:t>Daily electricity (MWh): actual vs forecast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25400" cap="flat">
              <a:solidFill>
                <a:srgbClr val="3B82C4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Sheet1!$A$2:$A$61</c:f>
              <c:strCache>
                <c:ptCount val="60"/>
                <c:pt idx="0">
                  <c:v>09-26</c:v>
                </c:pt>
                <c:pt idx="1">
                  <c:v>09-27</c:v>
                </c:pt>
                <c:pt idx="2">
                  <c:v>09-28</c:v>
                </c:pt>
                <c:pt idx="3">
                  <c:v>09-29</c:v>
                </c:pt>
                <c:pt idx="4">
                  <c:v>09-30</c:v>
                </c:pt>
                <c:pt idx="5">
                  <c:v>10-01</c:v>
                </c:pt>
                <c:pt idx="6">
                  <c:v>10-02</c:v>
                </c:pt>
                <c:pt idx="7">
                  <c:v>10-03</c:v>
                </c:pt>
                <c:pt idx="8">
                  <c:v>10-04</c:v>
                </c:pt>
                <c:pt idx="9">
                  <c:v>10-05</c:v>
                </c:pt>
                <c:pt idx="10">
                  <c:v>10-06</c:v>
                </c:pt>
                <c:pt idx="11">
                  <c:v>10-07</c:v>
                </c:pt>
                <c:pt idx="12">
                  <c:v>10-08</c:v>
                </c:pt>
                <c:pt idx="13">
                  <c:v>10-09</c:v>
                </c:pt>
                <c:pt idx="14">
                  <c:v>10-10</c:v>
                </c:pt>
                <c:pt idx="15">
                  <c:v>10-11</c:v>
                </c:pt>
                <c:pt idx="16">
                  <c:v>10-12</c:v>
                </c:pt>
                <c:pt idx="17">
                  <c:v>10-13</c:v>
                </c:pt>
                <c:pt idx="18">
                  <c:v>10-14</c:v>
                </c:pt>
                <c:pt idx="19">
                  <c:v>10-15</c:v>
                </c:pt>
                <c:pt idx="20">
                  <c:v>10-16</c:v>
                </c:pt>
                <c:pt idx="21">
                  <c:v>10-17</c:v>
                </c:pt>
                <c:pt idx="22">
                  <c:v>10-18</c:v>
                </c:pt>
                <c:pt idx="23">
                  <c:v>10-19</c:v>
                </c:pt>
                <c:pt idx="24">
                  <c:v>10-20</c:v>
                </c:pt>
                <c:pt idx="25">
                  <c:v>10-21</c:v>
                </c:pt>
                <c:pt idx="26">
                  <c:v>10-22</c:v>
                </c:pt>
                <c:pt idx="27">
                  <c:v>10-23</c:v>
                </c:pt>
                <c:pt idx="28">
                  <c:v>10-24</c:v>
                </c:pt>
                <c:pt idx="29">
                  <c:v>10-25</c:v>
                </c:pt>
                <c:pt idx="30">
                  <c:v>10-26</c:v>
                </c:pt>
                <c:pt idx="31">
                  <c:v>10-27</c:v>
                </c:pt>
                <c:pt idx="32">
                  <c:v>10-28</c:v>
                </c:pt>
                <c:pt idx="33">
                  <c:v>10-29</c:v>
                </c:pt>
                <c:pt idx="34">
                  <c:v>10-30</c:v>
                </c:pt>
                <c:pt idx="35">
                  <c:v>10-31</c:v>
                </c:pt>
                <c:pt idx="36">
                  <c:v>11-01</c:v>
                </c:pt>
                <c:pt idx="37">
                  <c:v>11-02</c:v>
                </c:pt>
                <c:pt idx="38">
                  <c:v>11-03</c:v>
                </c:pt>
                <c:pt idx="39">
                  <c:v>11-04</c:v>
                </c:pt>
                <c:pt idx="40">
                  <c:v>11-05</c:v>
                </c:pt>
                <c:pt idx="41">
                  <c:v>11-06</c:v>
                </c:pt>
                <c:pt idx="42">
                  <c:v>11-07</c:v>
                </c:pt>
                <c:pt idx="43">
                  <c:v>11-08</c:v>
                </c:pt>
                <c:pt idx="44">
                  <c:v>11-09</c:v>
                </c:pt>
                <c:pt idx="45">
                  <c:v>11-10</c:v>
                </c:pt>
                <c:pt idx="46">
                  <c:v>11-11</c:v>
                </c:pt>
                <c:pt idx="47">
                  <c:v>11-12</c:v>
                </c:pt>
                <c:pt idx="48">
                  <c:v>11-13</c:v>
                </c:pt>
                <c:pt idx="49">
                  <c:v>11-14</c:v>
                </c:pt>
                <c:pt idx="50">
                  <c:v>11-15</c:v>
                </c:pt>
                <c:pt idx="51">
                  <c:v>11-16</c:v>
                </c:pt>
                <c:pt idx="52">
                  <c:v>11-17</c:v>
                </c:pt>
                <c:pt idx="53">
                  <c:v>11-18</c:v>
                </c:pt>
                <c:pt idx="54">
                  <c:v>11-19</c:v>
                </c:pt>
                <c:pt idx="55">
                  <c:v>11-20</c:v>
                </c:pt>
                <c:pt idx="56">
                  <c:v>11-21</c:v>
                </c:pt>
                <c:pt idx="57">
                  <c:v>11-22</c:v>
                </c:pt>
                <c:pt idx="58">
                  <c:v>11-23</c:v>
                </c:pt>
                <c:pt idx="59">
                  <c:v>11-24</c:v>
                </c:pt>
              </c:strCache>
            </c: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13.4</c:v>
                </c:pt>
                <c:pt idx="1">
                  <c:v>14</c:v>
                </c:pt>
                <c:pt idx="2">
                  <c:v>22.6</c:v>
                </c:pt>
                <c:pt idx="3">
                  <c:v>23.9</c:v>
                </c:pt>
                <c:pt idx="4">
                  <c:v>23.5</c:v>
                </c:pt>
                <c:pt idx="5">
                  <c:v>25.2</c:v>
                </c:pt>
                <c:pt idx="6">
                  <c:v>14.5</c:v>
                </c:pt>
                <c:pt idx="7">
                  <c:v>14.9</c:v>
                </c:pt>
                <c:pt idx="8">
                  <c:v>14.7</c:v>
                </c:pt>
                <c:pt idx="9">
                  <c:v>23.1</c:v>
                </c:pt>
                <c:pt idx="10">
                  <c:v>24</c:v>
                </c:pt>
                <c:pt idx="11">
                  <c:v>22.3</c:v>
                </c:pt>
                <c:pt idx="12">
                  <c:v>22.5</c:v>
                </c:pt>
                <c:pt idx="13">
                  <c:v>24.4</c:v>
                </c:pt>
                <c:pt idx="14">
                  <c:v>13.5</c:v>
                </c:pt>
                <c:pt idx="15">
                  <c:v>12.9</c:v>
                </c:pt>
                <c:pt idx="16">
                  <c:v>23</c:v>
                </c:pt>
                <c:pt idx="17">
                  <c:v>22.4</c:v>
                </c:pt>
                <c:pt idx="18">
                  <c:v>24.1</c:v>
                </c:pt>
                <c:pt idx="19">
                  <c:v>22.9</c:v>
                </c:pt>
                <c:pt idx="20">
                  <c:v>22.6</c:v>
                </c:pt>
                <c:pt idx="21">
                  <c:v>14</c:v>
                </c:pt>
                <c:pt idx="22">
                  <c:v>14</c:v>
                </c:pt>
                <c:pt idx="23">
                  <c:v>22.5</c:v>
                </c:pt>
                <c:pt idx="24">
                  <c:v>24.6</c:v>
                </c:pt>
                <c:pt idx="25">
                  <c:v>22.2</c:v>
                </c:pt>
                <c:pt idx="26">
                  <c:v>23.2</c:v>
                </c:pt>
                <c:pt idx="27">
                  <c:v>22.3</c:v>
                </c:pt>
                <c:pt idx="28">
                  <c:v>14.8</c:v>
                </c:pt>
                <c:pt idx="29">
                  <c:v>15.6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DB8-4D27-82EF-CA5623C1EF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ln w="25400" cap="flat">
              <a:solidFill>
                <a:srgbClr val="1F7A4D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Sheet1!$A$2:$A$61</c:f>
              <c:strCache>
                <c:ptCount val="60"/>
                <c:pt idx="0">
                  <c:v>09-26</c:v>
                </c:pt>
                <c:pt idx="1">
                  <c:v>09-27</c:v>
                </c:pt>
                <c:pt idx="2">
                  <c:v>09-28</c:v>
                </c:pt>
                <c:pt idx="3">
                  <c:v>09-29</c:v>
                </c:pt>
                <c:pt idx="4">
                  <c:v>09-30</c:v>
                </c:pt>
                <c:pt idx="5">
                  <c:v>10-01</c:v>
                </c:pt>
                <c:pt idx="6">
                  <c:v>10-02</c:v>
                </c:pt>
                <c:pt idx="7">
                  <c:v>10-03</c:v>
                </c:pt>
                <c:pt idx="8">
                  <c:v>10-04</c:v>
                </c:pt>
                <c:pt idx="9">
                  <c:v>10-05</c:v>
                </c:pt>
                <c:pt idx="10">
                  <c:v>10-06</c:v>
                </c:pt>
                <c:pt idx="11">
                  <c:v>10-07</c:v>
                </c:pt>
                <c:pt idx="12">
                  <c:v>10-08</c:v>
                </c:pt>
                <c:pt idx="13">
                  <c:v>10-09</c:v>
                </c:pt>
                <c:pt idx="14">
                  <c:v>10-10</c:v>
                </c:pt>
                <c:pt idx="15">
                  <c:v>10-11</c:v>
                </c:pt>
                <c:pt idx="16">
                  <c:v>10-12</c:v>
                </c:pt>
                <c:pt idx="17">
                  <c:v>10-13</c:v>
                </c:pt>
                <c:pt idx="18">
                  <c:v>10-14</c:v>
                </c:pt>
                <c:pt idx="19">
                  <c:v>10-15</c:v>
                </c:pt>
                <c:pt idx="20">
                  <c:v>10-16</c:v>
                </c:pt>
                <c:pt idx="21">
                  <c:v>10-17</c:v>
                </c:pt>
                <c:pt idx="22">
                  <c:v>10-18</c:v>
                </c:pt>
                <c:pt idx="23">
                  <c:v>10-19</c:v>
                </c:pt>
                <c:pt idx="24">
                  <c:v>10-20</c:v>
                </c:pt>
                <c:pt idx="25">
                  <c:v>10-21</c:v>
                </c:pt>
                <c:pt idx="26">
                  <c:v>10-22</c:v>
                </c:pt>
                <c:pt idx="27">
                  <c:v>10-23</c:v>
                </c:pt>
                <c:pt idx="28">
                  <c:v>10-24</c:v>
                </c:pt>
                <c:pt idx="29">
                  <c:v>10-25</c:v>
                </c:pt>
                <c:pt idx="30">
                  <c:v>10-26</c:v>
                </c:pt>
                <c:pt idx="31">
                  <c:v>10-27</c:v>
                </c:pt>
                <c:pt idx="32">
                  <c:v>10-28</c:v>
                </c:pt>
                <c:pt idx="33">
                  <c:v>10-29</c:v>
                </c:pt>
                <c:pt idx="34">
                  <c:v>10-30</c:v>
                </c:pt>
                <c:pt idx="35">
                  <c:v>10-31</c:v>
                </c:pt>
                <c:pt idx="36">
                  <c:v>11-01</c:v>
                </c:pt>
                <c:pt idx="37">
                  <c:v>11-02</c:v>
                </c:pt>
                <c:pt idx="38">
                  <c:v>11-03</c:v>
                </c:pt>
                <c:pt idx="39">
                  <c:v>11-04</c:v>
                </c:pt>
                <c:pt idx="40">
                  <c:v>11-05</c:v>
                </c:pt>
                <c:pt idx="41">
                  <c:v>11-06</c:v>
                </c:pt>
                <c:pt idx="42">
                  <c:v>11-07</c:v>
                </c:pt>
                <c:pt idx="43">
                  <c:v>11-08</c:v>
                </c:pt>
                <c:pt idx="44">
                  <c:v>11-09</c:v>
                </c:pt>
                <c:pt idx="45">
                  <c:v>11-10</c:v>
                </c:pt>
                <c:pt idx="46">
                  <c:v>11-11</c:v>
                </c:pt>
                <c:pt idx="47">
                  <c:v>11-12</c:v>
                </c:pt>
                <c:pt idx="48">
                  <c:v>11-13</c:v>
                </c:pt>
                <c:pt idx="49">
                  <c:v>11-14</c:v>
                </c:pt>
                <c:pt idx="50">
                  <c:v>11-15</c:v>
                </c:pt>
                <c:pt idx="51">
                  <c:v>11-16</c:v>
                </c:pt>
                <c:pt idx="52">
                  <c:v>11-17</c:v>
                </c:pt>
                <c:pt idx="53">
                  <c:v>11-18</c:v>
                </c:pt>
                <c:pt idx="54">
                  <c:v>11-19</c:v>
                </c:pt>
                <c:pt idx="55">
                  <c:v>11-20</c:v>
                </c:pt>
                <c:pt idx="56">
                  <c:v>11-21</c:v>
                </c:pt>
                <c:pt idx="57">
                  <c:v>11-22</c:v>
                </c:pt>
                <c:pt idx="58">
                  <c:v>11-23</c:v>
                </c:pt>
                <c:pt idx="59">
                  <c:v>11-24</c:v>
                </c:pt>
              </c:strCache>
            </c:strRef>
          </c:cat>
          <c:val>
            <c:numRef>
              <c:f>Sheet1!$C$2:$C$61</c:f>
              <c:numCache>
                <c:formatCode>General</c:formatCode>
                <c:ptCount val="60"/>
                <c:pt idx="29">
                  <c:v>15.6</c:v>
                </c:pt>
                <c:pt idx="30">
                  <c:v>23.3</c:v>
                </c:pt>
                <c:pt idx="31">
                  <c:v>23.3</c:v>
                </c:pt>
                <c:pt idx="32">
                  <c:v>23.4</c:v>
                </c:pt>
                <c:pt idx="33">
                  <c:v>23.4</c:v>
                </c:pt>
                <c:pt idx="34">
                  <c:v>23.5</c:v>
                </c:pt>
                <c:pt idx="35">
                  <c:v>12.7</c:v>
                </c:pt>
                <c:pt idx="36">
                  <c:v>12.8</c:v>
                </c:pt>
                <c:pt idx="37">
                  <c:v>23.3</c:v>
                </c:pt>
                <c:pt idx="38">
                  <c:v>23.3</c:v>
                </c:pt>
                <c:pt idx="39">
                  <c:v>23.3</c:v>
                </c:pt>
                <c:pt idx="40">
                  <c:v>23.3</c:v>
                </c:pt>
                <c:pt idx="41">
                  <c:v>23.4</c:v>
                </c:pt>
                <c:pt idx="42">
                  <c:v>12.7</c:v>
                </c:pt>
                <c:pt idx="43">
                  <c:v>12.8</c:v>
                </c:pt>
                <c:pt idx="44">
                  <c:v>23.2</c:v>
                </c:pt>
                <c:pt idx="45">
                  <c:v>23.2</c:v>
                </c:pt>
                <c:pt idx="46">
                  <c:v>23.3</c:v>
                </c:pt>
                <c:pt idx="47">
                  <c:v>23.3</c:v>
                </c:pt>
                <c:pt idx="48">
                  <c:v>23.4</c:v>
                </c:pt>
                <c:pt idx="49">
                  <c:v>12.6</c:v>
                </c:pt>
                <c:pt idx="50">
                  <c:v>12.7</c:v>
                </c:pt>
                <c:pt idx="51">
                  <c:v>23.2</c:v>
                </c:pt>
                <c:pt idx="52">
                  <c:v>23.2</c:v>
                </c:pt>
                <c:pt idx="53">
                  <c:v>23.2</c:v>
                </c:pt>
                <c:pt idx="54">
                  <c:v>23.2</c:v>
                </c:pt>
                <c:pt idx="55">
                  <c:v>23.3</c:v>
                </c:pt>
                <c:pt idx="56">
                  <c:v>12.6</c:v>
                </c:pt>
                <c:pt idx="57">
                  <c:v>12.7</c:v>
                </c:pt>
                <c:pt idx="58">
                  <c:v>23.1</c:v>
                </c:pt>
                <c:pt idx="59">
                  <c:v>23.1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DB8-4D27-82EF-CA5623C1EF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F6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7"/>
        <c:noMultiLvlLbl val="1"/>
      </c:catAx>
      <c:valAx>
        <c:axId val="2094734552"/>
        <c:scaling>
          <c:orientation val="minMax"/>
          <c:min val="10"/>
        </c:scaling>
        <c:delete val="0"/>
        <c:axPos val="l"/>
        <c:majorGridlines>
          <c:spPr>
            <a:ln w="9525" cap="flat">
              <a:solidFill>
                <a:srgbClr val="E1E8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D6F6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D6F6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261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3261C"/>
                </a:solidFill>
                <a:latin typeface="+mn-lt"/>
              </a:rPr>
              <a:t>Campus emissions by source, last 30 days (tCO2e)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tCO2e</c:v>
                </c:pt>
              </c:strCache>
            </c:strRef>
          </c:tx>
          <c:spPr>
            <a:solidFill>
              <a:srgbClr val="1F7A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3261C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Canteen &amp; labs (LPG)</c:v>
                </c:pt>
                <c:pt idx="1">
                  <c:v>Waste disposal</c:v>
                </c:pt>
                <c:pt idx="2">
                  <c:v>Water supply &amp; treatment</c:v>
                </c:pt>
                <c:pt idx="3">
                  <c:v>Campus fleet</c:v>
                </c:pt>
                <c:pt idx="4">
                  <c:v>Student &amp; staff commuting</c:v>
                </c:pt>
                <c:pt idx="5">
                  <c:v>Purchased electricity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5</c:v>
                </c:pt>
                <c:pt idx="2">
                  <c:v>5</c:v>
                </c:pt>
                <c:pt idx="3">
                  <c:v>10</c:v>
                </c:pt>
                <c:pt idx="4">
                  <c:v>208</c:v>
                </c:pt>
                <c:pt idx="5">
                  <c:v>424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15-4B7A-93FF-202479753DE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D6F6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6481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32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417320"/>
            <a:ext cx="694944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03320"/>
            <a:ext cx="69494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F65"/>
                </a:solidFill>
              </a:rPr>
              <a:t>Smart Campus Sustainability  |  SRM IST Vadapalani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F6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F6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417320"/>
            <a:ext cx="6949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Campus Sustainability &amp; Carbon Footprint Monitoring System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033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A full-stack IoT + analytics web application (EcoSphere AI)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80060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FE3D7"/>
                </a:solidFill>
              </a:rPr>
              <a:t>Yajat M Rawal  ·  S Surendar  ·  Surya Swaminathan  ·  Shivraj Singh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FE3D7"/>
                </a:solidFill>
              </a:rPr>
              <a:t>Guide: Dr Arun Nehru J, Assistant Professor, Dept. of CSE (Emerging Technologies)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FE3D7"/>
                </a:solidFill>
              </a:rPr>
              <a:t>21CSC203P Advanced Programming Practice  ·  October 2026</a:t>
            </a:r>
            <a:endParaRPr lang="en-US" sz="1400" dirty="0"/>
          </a:p>
        </p:txBody>
      </p:sp>
      <p:sp>
        <p:nvSpPr>
          <p:cNvPr id="5" name="Logo card"/>
          <p:cNvSpPr/>
          <p:nvPr/>
        </p:nvSpPr>
        <p:spPr>
          <a:xfrm>
            <a:off x="8412480" y="640080"/>
            <a:ext cx="310896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</p:spPr>
      </p:sp>
      <p:pic>
        <p:nvPicPr>
          <p:cNvPr id="6" name="SRM logo" descr="SRM Institute of Science and Technology, Vadapalani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758952"/>
            <a:ext cx="2834640" cy="996696"/>
          </a:xfrm>
          <a:prstGeom prst="rect">
            <a:avLst/>
          </a:prstGeom>
        </p:spPr>
      </p:pic>
      <p:sp>
        <p:nvSpPr>
          <p:cNvPr id="7" name="IoT icon circle"/>
          <p:cNvSpPr/>
          <p:nvPr/>
        </p:nvSpPr>
        <p:spPr>
          <a:xfrm>
            <a:off x="8915400" y="2514600"/>
            <a:ext cx="960120" cy="9601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oT icon" descr="Io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5031" y="2764231"/>
            <a:ext cx="460858" cy="460858"/>
          </a:xfrm>
          <a:prstGeom prst="rect">
            <a:avLst/>
          </a:prstGeom>
        </p:spPr>
      </p:pic>
      <p:sp>
        <p:nvSpPr>
          <p:cNvPr id="9" name="Python icon circle"/>
          <p:cNvSpPr/>
          <p:nvPr/>
        </p:nvSpPr>
        <p:spPr>
          <a:xfrm>
            <a:off x="10149840" y="2514600"/>
            <a:ext cx="960120" cy="9601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Python icon" descr="Pytho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9471" y="2764231"/>
            <a:ext cx="460858" cy="460858"/>
          </a:xfrm>
          <a:prstGeom prst="rect">
            <a:avLst/>
          </a:prstGeom>
        </p:spPr>
      </p:pic>
      <p:sp>
        <p:nvSpPr>
          <p:cNvPr id="11" name="Database icon circle"/>
          <p:cNvSpPr/>
          <p:nvPr/>
        </p:nvSpPr>
        <p:spPr>
          <a:xfrm>
            <a:off x="8915400" y="3749040"/>
            <a:ext cx="960120" cy="9601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2" name="Database icon" descr="Databas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5031" y="3998671"/>
            <a:ext cx="460858" cy="460858"/>
          </a:xfrm>
          <a:prstGeom prst="rect">
            <a:avLst/>
          </a:prstGeom>
        </p:spPr>
      </p:pic>
      <p:sp>
        <p:nvSpPr>
          <p:cNvPr id="13" name="React icon circle"/>
          <p:cNvSpPr/>
          <p:nvPr/>
        </p:nvSpPr>
        <p:spPr>
          <a:xfrm>
            <a:off x="10149840" y="3749040"/>
            <a:ext cx="960120" cy="9601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React icon" descr="React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9471" y="3998671"/>
            <a:ext cx="460858" cy="460858"/>
          </a:xfrm>
          <a:prstGeom prst="rect">
            <a:avLst/>
          </a:prstGeom>
        </p:spPr>
      </p:pic>
      <p:sp>
        <p:nvSpPr>
          <p:cNvPr id="15" name="Analytics icon circle"/>
          <p:cNvSpPr/>
          <p:nvPr/>
        </p:nvSpPr>
        <p:spPr>
          <a:xfrm>
            <a:off x="8915400" y="4983480"/>
            <a:ext cx="960120" cy="9601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Analytics icon" descr="Analytics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5031" y="5233111"/>
            <a:ext cx="460858" cy="460858"/>
          </a:xfrm>
          <a:prstGeom prst="rect">
            <a:avLst/>
          </a:prstGeom>
        </p:spPr>
      </p:pic>
      <p:sp>
        <p:nvSpPr>
          <p:cNvPr id="17" name="Carbon icon circle"/>
          <p:cNvSpPr/>
          <p:nvPr/>
        </p:nvSpPr>
        <p:spPr>
          <a:xfrm>
            <a:off x="10149840" y="4983480"/>
            <a:ext cx="960120" cy="9601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Carbon icon" descr="Carbon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99471" y="5233111"/>
            <a:ext cx="460858" cy="4608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 in one slide</a:t>
            </a:r>
            <a:endParaRPr lang="en-US" sz="3200" dirty="0"/>
          </a:p>
        </p:txBody>
      </p:sp>
      <p:sp>
        <p:nvSpPr>
          <p:cNvPr id="3" name="Today card"/>
          <p:cNvSpPr/>
          <p:nvPr/>
        </p:nvSpPr>
        <p:spPr>
          <a:xfrm>
            <a:off x="548640" y="1371600"/>
            <a:ext cx="5120640" cy="36576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/>
        </p:spPr>
      </p:sp>
      <p:sp>
        <p:nvSpPr>
          <p:cNvPr id="4" name="Today icon circle"/>
          <p:cNvSpPr/>
          <p:nvPr/>
        </p:nvSpPr>
        <p:spPr>
          <a:xfrm>
            <a:off x="868680" y="169164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Today icon" descr="Today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50" y="19056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874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Today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788920"/>
            <a:ext cx="4526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Campus checks electricity and water bills once a year</a:t>
            </a:r>
            <a:endParaRPr lang="en-US" sz="18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Carbon footprint calculated by hand in Excel</a:t>
            </a:r>
            <a:endParaRPr lang="en-US" sz="18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Leaks and AC left on overnight go unnoticed</a:t>
            </a:r>
            <a:endParaRPr lang="en-US" sz="1800" dirty="0"/>
          </a:p>
        </p:txBody>
      </p:sp>
      <p:sp>
        <p:nvSpPr>
          <p:cNvPr id="8" name="Today to our system arrow"/>
          <p:cNvSpPr/>
          <p:nvPr/>
        </p:nvSpPr>
        <p:spPr>
          <a:xfrm>
            <a:off x="5852160" y="2971800"/>
            <a:ext cx="502920" cy="457200"/>
          </a:xfrm>
          <a:prstGeom prst="rightArrow">
            <a:avLst/>
          </a:prstGeom>
          <a:solidFill>
            <a:srgbClr val="1F7A4D"/>
          </a:solidFill>
          <a:ln/>
        </p:spPr>
      </p:sp>
      <p:sp>
        <p:nvSpPr>
          <p:cNvPr id="9" name="Our system card"/>
          <p:cNvSpPr/>
          <p:nvPr/>
        </p:nvSpPr>
        <p:spPr>
          <a:xfrm>
            <a:off x="6537960" y="1371600"/>
            <a:ext cx="5074920" cy="3657600"/>
          </a:xfrm>
          <a:prstGeom prst="roundRect">
            <a:avLst>
              <a:gd name="adj" fmla="val 3000"/>
            </a:avLst>
          </a:prstGeom>
          <a:solidFill>
            <a:schemeClr val="tx2"/>
          </a:solidFill>
          <a:ln/>
        </p:spPr>
      </p:sp>
      <p:sp>
        <p:nvSpPr>
          <p:cNvPr id="10" name="Our system icon circle"/>
          <p:cNvSpPr/>
          <p:nvPr/>
        </p:nvSpPr>
        <p:spPr>
          <a:xfrm>
            <a:off x="6858000" y="169164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Our system icon" descr="Our system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1970" y="190561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909560" y="1874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Our system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6858000" y="278892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3EFE8"/>
                </a:solidFill>
              </a:rPr>
              <a:t>IoT meters send readings every minute</a:t>
            </a:r>
            <a:endParaRPr lang="en-US" sz="18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3EFE8"/>
                </a:solidFill>
              </a:rPr>
              <a:t>Software converts them to CO2 automatically</a:t>
            </a:r>
            <a:endParaRPr lang="en-US" sz="18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3EFE8"/>
                </a:solidFill>
              </a:rPr>
              <a:t>Algorithms raise alerts within hours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measured gets managed.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F6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(100% free and open source)</a:t>
            </a:r>
            <a:endParaRPr lang="en-US" sz="3200" dirty="0"/>
          </a:p>
        </p:txBody>
      </p:sp>
      <p:sp>
        <p:nvSpPr>
          <p:cNvPr id="3" name="Frontend card"/>
          <p:cNvSpPr/>
          <p:nvPr/>
        </p:nvSpPr>
        <p:spPr>
          <a:xfrm>
            <a:off x="548640" y="1371600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4" name="Frontend icon circle"/>
          <p:cNvSpPr/>
          <p:nvPr/>
        </p:nvSpPr>
        <p:spPr>
          <a:xfrm>
            <a:off x="777240" y="150876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Frontend icon" descr="Frontend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" y="16989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3716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tx2"/>
                </a:solidFill>
              </a:rPr>
              <a:t>Frontend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3716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React 19 · TypeScript · Vite · Recharts · Leaflet maps</a:t>
            </a:r>
            <a:endParaRPr lang="en-US" sz="1800" dirty="0"/>
          </a:p>
        </p:txBody>
      </p:sp>
      <p:sp>
        <p:nvSpPr>
          <p:cNvPr id="8" name="Backend card"/>
          <p:cNvSpPr/>
          <p:nvPr/>
        </p:nvSpPr>
        <p:spPr>
          <a:xfrm>
            <a:off x="548640" y="2560320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9" name="Backend icon circle"/>
          <p:cNvSpPr/>
          <p:nvPr/>
        </p:nvSpPr>
        <p:spPr>
          <a:xfrm>
            <a:off x="777240" y="269748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Backend icon" descr="Backend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435" y="288767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737360" y="25603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tx2"/>
                </a:solidFill>
              </a:rPr>
              <a:t>Backend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256032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Python 3.12 · Django 5 · Django REST Framework · JWT</a:t>
            </a:r>
            <a:endParaRPr lang="en-US" sz="1800" dirty="0"/>
          </a:p>
        </p:txBody>
      </p:sp>
      <p:sp>
        <p:nvSpPr>
          <p:cNvPr id="13" name="Database &amp; maths card"/>
          <p:cNvSpPr/>
          <p:nvPr/>
        </p:nvSpPr>
        <p:spPr>
          <a:xfrm>
            <a:off x="548640" y="3749040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4" name="Database &amp; maths icon circle"/>
          <p:cNvSpPr/>
          <p:nvPr/>
        </p:nvSpPr>
        <p:spPr>
          <a:xfrm>
            <a:off x="777240" y="3886200"/>
            <a:ext cx="731520" cy="7315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5" name="Database &amp; maths icon" descr="Database &amp; math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435" y="4076395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37360" y="3749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tx2"/>
                </a:solidFill>
              </a:rPr>
              <a:t>Database &amp; maths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4663440" y="374904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SQLite (PostgreSQL ready) · NumPy · ReportLab PDFs</a:t>
            </a:r>
            <a:endParaRPr lang="en-US" sz="1800" dirty="0"/>
          </a:p>
        </p:txBody>
      </p:sp>
      <p:sp>
        <p:nvSpPr>
          <p:cNvPr id="18" name="IoT layer card"/>
          <p:cNvSpPr/>
          <p:nvPr/>
        </p:nvSpPr>
        <p:spPr>
          <a:xfrm>
            <a:off x="548640" y="4937760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9" name="IoT layer icon circle"/>
          <p:cNvSpPr/>
          <p:nvPr/>
        </p:nvSpPr>
        <p:spPr>
          <a:xfrm>
            <a:off x="777240" y="50749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oT layer icon" descr="IoT layer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435" y="5265115"/>
            <a:ext cx="351130" cy="35113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737360" y="49377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tx2"/>
                </a:solidFill>
              </a:rPr>
              <a:t>IoT layer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4663440" y="493776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ESP32 / smart meters → HTTP JSON API (simulator for demo)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5D6F65"/>
                </a:solidFill>
              </a:rPr>
              <a:t>Rs. 0 licence cost · runs on a normal laptop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F6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IoT devices card"/>
          <p:cNvSpPr/>
          <p:nvPr/>
        </p:nvSpPr>
        <p:spPr>
          <a:xfrm>
            <a:off x="548640" y="1417320"/>
            <a:ext cx="2423160" cy="324612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</p:spPr>
      </p:sp>
      <p:sp>
        <p:nvSpPr>
          <p:cNvPr id="4" name="IoT devices icon circle"/>
          <p:cNvSpPr/>
          <p:nvPr/>
        </p:nvSpPr>
        <p:spPr>
          <a:xfrm>
            <a:off x="1325880" y="169164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oT devices icon" descr="IoT device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737" y="1917497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2"/>
                </a:solidFill>
              </a:rPr>
              <a:t>IoT devices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33756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600" dirty="0">
                <a:solidFill>
                  <a:srgbClr val="5D6F65"/>
                </a:solidFill>
              </a:rPr>
              <a:t>Energy meters</a:t>
            </a:r>
            <a:endParaRPr lang="en-US" sz="16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600" dirty="0">
                <a:solidFill>
                  <a:srgbClr val="5D6F65"/>
                </a:solidFill>
              </a:rPr>
              <a:t>Water meters</a:t>
            </a:r>
            <a:endParaRPr lang="en-US" sz="16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600" dirty="0">
                <a:solidFill>
                  <a:srgbClr val="5D6F65"/>
                </a:solidFill>
              </a:rPr>
              <a:t>CO2 sensors</a:t>
            </a:r>
            <a:endParaRPr lang="en-US" sz="1600" dirty="0"/>
          </a:p>
        </p:txBody>
      </p:sp>
      <p:sp>
        <p:nvSpPr>
          <p:cNvPr id="8" name="Architecture arrow 1"/>
          <p:cNvSpPr/>
          <p:nvPr/>
        </p:nvSpPr>
        <p:spPr>
          <a:xfrm>
            <a:off x="3017520" y="3246120"/>
            <a:ext cx="365760" cy="347472"/>
          </a:xfrm>
          <a:prstGeom prst="rightArrow">
            <a:avLst/>
          </a:prstGeom>
          <a:solidFill>
            <a:srgbClr val="9FB5A8"/>
          </a:solidFill>
          <a:ln/>
        </p:spPr>
      </p:sp>
      <p:sp>
        <p:nvSpPr>
          <p:cNvPr id="9" name="Django REST API card"/>
          <p:cNvSpPr/>
          <p:nvPr/>
        </p:nvSpPr>
        <p:spPr>
          <a:xfrm>
            <a:off x="3429000" y="1417320"/>
            <a:ext cx="2423160" cy="324612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</p:spPr>
      </p:sp>
      <p:sp>
        <p:nvSpPr>
          <p:cNvPr id="10" name="Django REST API icon circle"/>
          <p:cNvSpPr/>
          <p:nvPr/>
        </p:nvSpPr>
        <p:spPr>
          <a:xfrm>
            <a:off x="4206240" y="1691640"/>
            <a:ext cx="868680" cy="8686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Django REST API icon" descr="Django REST API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2097" y="191749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2"/>
                </a:solidFill>
              </a:rPr>
              <a:t>Django REST API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333756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600" dirty="0">
                <a:solidFill>
                  <a:srgbClr val="5D6F65"/>
                </a:solidFill>
              </a:rPr>
              <a:t>Validates data</a:t>
            </a:r>
            <a:endParaRPr lang="en-US" sz="16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600" dirty="0">
                <a:solidFill>
                  <a:srgbClr val="5D6F65"/>
                </a:solidFill>
              </a:rPr>
              <a:t>Carbon engine</a:t>
            </a:r>
            <a:endParaRPr lang="en-US" sz="16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600" dirty="0">
                <a:solidFill>
                  <a:srgbClr val="5D6F65"/>
                </a:solidFill>
              </a:rPr>
              <a:t>Alerts &amp; forecast</a:t>
            </a:r>
            <a:endParaRPr lang="en-US" sz="1600" dirty="0"/>
          </a:p>
        </p:txBody>
      </p:sp>
      <p:sp>
        <p:nvSpPr>
          <p:cNvPr id="14" name="Architecture arrow 2"/>
          <p:cNvSpPr/>
          <p:nvPr/>
        </p:nvSpPr>
        <p:spPr>
          <a:xfrm>
            <a:off x="5897880" y="3246120"/>
            <a:ext cx="365760" cy="347472"/>
          </a:xfrm>
          <a:prstGeom prst="rightArrow">
            <a:avLst/>
          </a:prstGeom>
          <a:solidFill>
            <a:srgbClr val="9FB5A8"/>
          </a:solidFill>
          <a:ln/>
        </p:spPr>
      </p:sp>
      <p:sp>
        <p:nvSpPr>
          <p:cNvPr id="15" name="SQLite database card"/>
          <p:cNvSpPr/>
          <p:nvPr/>
        </p:nvSpPr>
        <p:spPr>
          <a:xfrm>
            <a:off x="6309360" y="1417320"/>
            <a:ext cx="2423160" cy="324612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</p:spPr>
      </p:sp>
      <p:sp>
        <p:nvSpPr>
          <p:cNvPr id="16" name="SQLite database icon circle"/>
          <p:cNvSpPr/>
          <p:nvPr/>
        </p:nvSpPr>
        <p:spPr>
          <a:xfrm>
            <a:off x="7086600" y="1691640"/>
            <a:ext cx="868680" cy="8686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7" name="SQLite database icon" descr="SQLite databas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2457" y="1917497"/>
            <a:ext cx="416966" cy="41696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4652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2"/>
                </a:solidFill>
              </a:rPr>
              <a:t>SQLite database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6446520" y="333756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600" dirty="0">
                <a:solidFill>
                  <a:srgbClr val="5D6F65"/>
                </a:solidFill>
              </a:rPr>
              <a:t>Readings</a:t>
            </a:r>
            <a:endParaRPr lang="en-US" sz="16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600" dirty="0">
                <a:solidFill>
                  <a:srgbClr val="5D6F65"/>
                </a:solidFill>
              </a:rPr>
              <a:t>Emission factors</a:t>
            </a:r>
            <a:endParaRPr lang="en-US" sz="16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600" dirty="0">
                <a:solidFill>
                  <a:srgbClr val="5D6F65"/>
                </a:solidFill>
              </a:rPr>
              <a:t>Alerts, users</a:t>
            </a:r>
            <a:endParaRPr lang="en-US" sz="1600" dirty="0"/>
          </a:p>
        </p:txBody>
      </p:sp>
      <p:sp>
        <p:nvSpPr>
          <p:cNvPr id="20" name="Architecture arrow 3"/>
          <p:cNvSpPr/>
          <p:nvPr/>
        </p:nvSpPr>
        <p:spPr>
          <a:xfrm>
            <a:off x="8778240" y="3246120"/>
            <a:ext cx="365760" cy="347472"/>
          </a:xfrm>
          <a:prstGeom prst="rightArrow">
            <a:avLst/>
          </a:prstGeom>
          <a:solidFill>
            <a:srgbClr val="9FB5A8"/>
          </a:solidFill>
          <a:ln/>
        </p:spPr>
      </p:sp>
      <p:sp>
        <p:nvSpPr>
          <p:cNvPr id="21" name="React web app card"/>
          <p:cNvSpPr/>
          <p:nvPr/>
        </p:nvSpPr>
        <p:spPr>
          <a:xfrm>
            <a:off x="9189720" y="1417320"/>
            <a:ext cx="2423160" cy="324612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</p:spPr>
      </p:sp>
      <p:sp>
        <p:nvSpPr>
          <p:cNvPr id="22" name="React web app icon circle"/>
          <p:cNvSpPr/>
          <p:nvPr/>
        </p:nvSpPr>
        <p:spPr>
          <a:xfrm>
            <a:off x="9966960" y="169164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3" name="React web app icon" descr="React web app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2817" y="1917497"/>
            <a:ext cx="416966" cy="41696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32688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2"/>
                </a:solidFill>
              </a:rPr>
              <a:t>React web app</a:t>
            </a:r>
            <a:endParaRPr lang="en-US" sz="1900" dirty="0"/>
          </a:p>
        </p:txBody>
      </p:sp>
      <p:sp>
        <p:nvSpPr>
          <p:cNvPr id="25" name="Text 19"/>
          <p:cNvSpPr txBox="1"/>
          <p:nvPr/>
        </p:nvSpPr>
        <p:spPr>
          <a:xfrm>
            <a:off x="9326880" y="333756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600" dirty="0">
                <a:solidFill>
                  <a:srgbClr val="5D6F65"/>
                </a:solidFill>
              </a:rPr>
              <a:t>Dashboards</a:t>
            </a:r>
            <a:endParaRPr lang="en-US" sz="16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600" dirty="0">
                <a:solidFill>
                  <a:srgbClr val="5D6F65"/>
                </a:solidFill>
              </a:rPr>
              <a:t>Charts &amp; map</a:t>
            </a:r>
            <a:endParaRPr lang="en-US" sz="16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600" dirty="0">
                <a:solidFill>
                  <a:srgbClr val="5D6F65"/>
                </a:solidFill>
              </a:rPr>
              <a:t>Reports</a:t>
            </a:r>
            <a:endParaRPr lang="en-US" sz="1600" dirty="0"/>
          </a:p>
        </p:txBody>
      </p:sp>
      <p:sp>
        <p:nvSpPr>
          <p:cNvPr id="26" name="HTTP POST + JSON card"/>
          <p:cNvSpPr/>
          <p:nvPr/>
        </p:nvSpPr>
        <p:spPr>
          <a:xfrm>
            <a:off x="2240280" y="4937760"/>
            <a:ext cx="1920240" cy="54864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2240280" y="4937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HTTP POST + JSON</a:t>
            </a:r>
            <a:endParaRPr lang="en-US" sz="1400" dirty="0"/>
          </a:p>
        </p:txBody>
      </p:sp>
      <p:sp>
        <p:nvSpPr>
          <p:cNvPr id="28" name="Django ORM card"/>
          <p:cNvSpPr/>
          <p:nvPr/>
        </p:nvSpPr>
        <p:spPr>
          <a:xfrm>
            <a:off x="5120640" y="4937760"/>
            <a:ext cx="1920240" cy="54864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5120640" y="4937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Django ORM</a:t>
            </a:r>
            <a:endParaRPr lang="en-US" sz="1400" dirty="0"/>
          </a:p>
        </p:txBody>
      </p:sp>
      <p:sp>
        <p:nvSpPr>
          <p:cNvPr id="30" name="REST API + JWT card"/>
          <p:cNvSpPr/>
          <p:nvPr/>
        </p:nvSpPr>
        <p:spPr>
          <a:xfrm>
            <a:off x="8001000" y="4937760"/>
            <a:ext cx="1920240" cy="54864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8001000" y="4937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REST API + JWT</a:t>
            </a:r>
            <a:endParaRPr lang="en-US" sz="1400" dirty="0"/>
          </a:p>
        </p:txBody>
      </p:sp>
      <p:sp>
        <p:nvSpPr>
          <p:cNvPr id="32" name="Text 26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D6F65"/>
                </a:solidFill>
              </a:rPr>
              <a:t>Labels under the arrows show how each part talks to the next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F6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Collecting sensor data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D6F65"/>
                </a:solidFill>
              </a:rPr>
              <a:t>Every meter sends a small JSON message to our API every minute</a:t>
            </a:r>
            <a:endParaRPr lang="en-US" sz="1800" dirty="0"/>
          </a:p>
        </p:txBody>
      </p:sp>
      <p:sp>
        <p:nvSpPr>
          <p:cNvPr id="4" name="Ingest request card"/>
          <p:cNvSpPr/>
          <p:nvPr/>
        </p:nvSpPr>
        <p:spPr>
          <a:xfrm>
            <a:off x="548640" y="1828800"/>
            <a:ext cx="5669280" cy="4206240"/>
          </a:xfrm>
          <a:prstGeom prst="roundRect">
            <a:avLst>
              <a:gd name="adj" fmla="val 2609"/>
            </a:avLst>
          </a:prstGeom>
          <a:solidFill>
            <a:srgbClr val="1326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5120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D7EA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/api/ingest/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D7EA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X-Gateway-Key: 6e73...bc69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D7EA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D7EA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"readings": [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D7EA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"serial": "EM-ACA",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D7EA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"value": 42.5,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D7EA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"interval_minutes": 15 }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D7EA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D7EA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6" name="Device key icon circle"/>
          <p:cNvSpPr/>
          <p:nvPr/>
        </p:nvSpPr>
        <p:spPr>
          <a:xfrm>
            <a:off x="6583680" y="187452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7" name="Device key icon" descr="Device key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875" y="2064715"/>
            <a:ext cx="351130" cy="3511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0" y="18288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Device key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Only registered gateways can send data</a:t>
            </a:r>
            <a:endParaRPr lang="en-US" sz="1500" dirty="0"/>
          </a:p>
        </p:txBody>
      </p:sp>
      <p:sp>
        <p:nvSpPr>
          <p:cNvPr id="9" name="Validation icon circle"/>
          <p:cNvSpPr/>
          <p:nvPr/>
        </p:nvSpPr>
        <p:spPr>
          <a:xfrm>
            <a:off x="6583680" y="2953512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Validation icon" descr="Validation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875" y="3143707"/>
            <a:ext cx="351130" cy="3511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98080" y="290779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Validation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Unknown meter or bad number → rejected</a:t>
            </a:r>
            <a:endParaRPr lang="en-US" sz="1500" dirty="0"/>
          </a:p>
        </p:txBody>
      </p:sp>
      <p:sp>
        <p:nvSpPr>
          <p:cNvPr id="12" name="Quality flag icon circle"/>
          <p:cNvSpPr/>
          <p:nvPr/>
        </p:nvSpPr>
        <p:spPr>
          <a:xfrm>
            <a:off x="6583680" y="4032504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Quality flag icon" descr="Quality flag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3875" y="4222699"/>
            <a:ext cx="351130" cy="35113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498080" y="3986784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Quality flag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Impossible values stored but marked 'suspect'</a:t>
            </a:r>
            <a:endParaRPr lang="en-US" sz="1500" dirty="0"/>
          </a:p>
        </p:txBody>
      </p:sp>
      <p:sp>
        <p:nvSpPr>
          <p:cNvPr id="15" name="Bulk save icon circle"/>
          <p:cNvSpPr/>
          <p:nvPr/>
        </p:nvSpPr>
        <p:spPr>
          <a:xfrm>
            <a:off x="6583680" y="5111496"/>
            <a:ext cx="731520" cy="7315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6" name="Bulk save icon" descr="Bulk sav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3875" y="5301691"/>
            <a:ext cx="351130" cy="35113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498080" y="506577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Bulk save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Thousands of readings saved in one query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F6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Storing it in the database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D6F65"/>
                </a:solidFill>
              </a:rPr>
              <a:t>Django models (Python classes) become SQL tables automatically</a:t>
            </a:r>
            <a:endParaRPr lang="en-US" sz="1800" dirty="0"/>
          </a:p>
        </p:txBody>
      </p:sp>
      <p:sp>
        <p:nvSpPr>
          <p:cNvPr id="4" name="Building table header"/>
          <p:cNvSpPr/>
          <p:nvPr/>
        </p:nvSpPr>
        <p:spPr>
          <a:xfrm>
            <a:off x="548640" y="1920240"/>
            <a:ext cx="347472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Building</a:t>
            </a:r>
            <a:endParaRPr lang="en-US" sz="1900" dirty="0"/>
          </a:p>
        </p:txBody>
      </p:sp>
      <p:sp>
        <p:nvSpPr>
          <p:cNvPr id="6" name="Building fields card"/>
          <p:cNvSpPr/>
          <p:nvPr/>
        </p:nvSpPr>
        <p:spPr>
          <a:xfrm>
            <a:off x="548640" y="2514600"/>
            <a:ext cx="34747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514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type, area, occupants</a:t>
            </a:r>
            <a:endParaRPr lang="en-US" sz="1500" dirty="0"/>
          </a:p>
        </p:txBody>
      </p:sp>
      <p:sp>
        <p:nvSpPr>
          <p:cNvPr id="8" name="Meter table header"/>
          <p:cNvSpPr/>
          <p:nvPr/>
        </p:nvSpPr>
        <p:spPr>
          <a:xfrm>
            <a:off x="4343400" y="1920240"/>
            <a:ext cx="3474720" cy="54864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6280" y="1920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Meter</a:t>
            </a:r>
            <a:endParaRPr lang="en-US" sz="1900" dirty="0"/>
          </a:p>
        </p:txBody>
      </p:sp>
      <p:sp>
        <p:nvSpPr>
          <p:cNvPr id="10" name="Meter fields card"/>
          <p:cNvSpPr/>
          <p:nvPr/>
        </p:nvSpPr>
        <p:spPr>
          <a:xfrm>
            <a:off x="4343400" y="2514600"/>
            <a:ext cx="34747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2514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serial, kind (power/water)</a:t>
            </a:r>
            <a:endParaRPr lang="en-US" sz="1500" dirty="0"/>
          </a:p>
        </p:txBody>
      </p:sp>
      <p:sp>
        <p:nvSpPr>
          <p:cNvPr id="12" name="Reading table header"/>
          <p:cNvSpPr/>
          <p:nvPr/>
        </p:nvSpPr>
        <p:spPr>
          <a:xfrm>
            <a:off x="8138160" y="1920240"/>
            <a:ext cx="3474720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21040" y="1920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Reading</a:t>
            </a:r>
            <a:endParaRPr lang="en-US" sz="1900" dirty="0"/>
          </a:p>
        </p:txBody>
      </p:sp>
      <p:sp>
        <p:nvSpPr>
          <p:cNvPr id="14" name="Reading fields card"/>
          <p:cNvSpPr/>
          <p:nvPr/>
        </p:nvSpPr>
        <p:spPr>
          <a:xfrm>
            <a:off x="8138160" y="2514600"/>
            <a:ext cx="34747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21040" y="2514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time, value, quality</a:t>
            </a:r>
            <a:endParaRPr lang="en-US" sz="1500" dirty="0"/>
          </a:p>
        </p:txBody>
      </p:sp>
      <p:sp>
        <p:nvSpPr>
          <p:cNvPr id="16" name="Alert table header"/>
          <p:cNvSpPr/>
          <p:nvPr/>
        </p:nvSpPr>
        <p:spPr>
          <a:xfrm>
            <a:off x="548640" y="4206240"/>
            <a:ext cx="3474720" cy="54864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206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Alert</a:t>
            </a:r>
            <a:endParaRPr lang="en-US" sz="1900" dirty="0"/>
          </a:p>
        </p:txBody>
      </p:sp>
      <p:sp>
        <p:nvSpPr>
          <p:cNvPr id="18" name="Alert fields card"/>
          <p:cNvSpPr/>
          <p:nvPr/>
        </p:nvSpPr>
        <p:spPr>
          <a:xfrm>
            <a:off x="548640" y="4800600"/>
            <a:ext cx="34747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800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type, severity, status</a:t>
            </a:r>
            <a:endParaRPr lang="en-US" sz="1500" dirty="0"/>
          </a:p>
        </p:txBody>
      </p:sp>
      <p:sp>
        <p:nvSpPr>
          <p:cNvPr id="20" name="EmissionFactor table header"/>
          <p:cNvSpPr/>
          <p:nvPr/>
        </p:nvSpPr>
        <p:spPr>
          <a:xfrm>
            <a:off x="4343400" y="4206240"/>
            <a:ext cx="347472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26280" y="4206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EmissionFactor</a:t>
            </a:r>
            <a:endParaRPr lang="en-US" sz="1900" dirty="0"/>
          </a:p>
        </p:txBody>
      </p:sp>
      <p:sp>
        <p:nvSpPr>
          <p:cNvPr id="22" name="EmissionFactor fields card"/>
          <p:cNvSpPr/>
          <p:nvPr/>
        </p:nvSpPr>
        <p:spPr>
          <a:xfrm>
            <a:off x="4343400" y="4800600"/>
            <a:ext cx="34747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26280" y="4800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activity, value, date</a:t>
            </a:r>
            <a:endParaRPr lang="en-US" sz="1500" dirty="0"/>
          </a:p>
        </p:txBody>
      </p:sp>
      <p:sp>
        <p:nvSpPr>
          <p:cNvPr id="24" name="User table header"/>
          <p:cNvSpPr/>
          <p:nvPr/>
        </p:nvSpPr>
        <p:spPr>
          <a:xfrm>
            <a:off x="8138160" y="4206240"/>
            <a:ext cx="3474720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21040" y="4206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User</a:t>
            </a:r>
            <a:endParaRPr lang="en-US" sz="1900" dirty="0"/>
          </a:p>
        </p:txBody>
      </p:sp>
      <p:sp>
        <p:nvSpPr>
          <p:cNvPr id="26" name="User fields card"/>
          <p:cNvSpPr/>
          <p:nvPr/>
        </p:nvSpPr>
        <p:spPr>
          <a:xfrm>
            <a:off x="8138160" y="4800600"/>
            <a:ext cx="34747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21040" y="4800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username, role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630168" y="1645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F65"/>
                </a:solidFill>
              </a:rPr>
              <a:t>1 → many</a:t>
            </a:r>
            <a:endParaRPr lang="en-US" sz="1200" dirty="0"/>
          </a:p>
        </p:txBody>
      </p:sp>
      <p:sp>
        <p:nvSpPr>
          <p:cNvPr id="29" name="Building to Meter"/>
          <p:cNvSpPr/>
          <p:nvPr/>
        </p:nvSpPr>
        <p:spPr>
          <a:xfrm>
            <a:off x="4041648" y="2057400"/>
            <a:ext cx="274320" cy="274320"/>
          </a:xfrm>
          <a:prstGeom prst="rightArrow">
            <a:avLst/>
          </a:prstGeom>
          <a:solidFill>
            <a:srgbClr val="9FB5A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424928" y="1645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F65"/>
                </a:solidFill>
              </a:rPr>
              <a:t>1 → many</a:t>
            </a:r>
            <a:endParaRPr lang="en-US" sz="1200" dirty="0"/>
          </a:p>
        </p:txBody>
      </p:sp>
      <p:sp>
        <p:nvSpPr>
          <p:cNvPr id="31" name="Meter to Reading"/>
          <p:cNvSpPr/>
          <p:nvPr/>
        </p:nvSpPr>
        <p:spPr>
          <a:xfrm>
            <a:off x="7836408" y="2057400"/>
            <a:ext cx="274320" cy="274320"/>
          </a:xfrm>
          <a:prstGeom prst="rightArrow">
            <a:avLst/>
          </a:prstGeom>
          <a:solidFill>
            <a:srgbClr val="9FB5A8"/>
          </a:solidFill>
          <a:ln/>
        </p:spPr>
      </p:sp>
      <p:sp>
        <p:nvSpPr>
          <p:cNvPr id="32" name="Building to Alert"/>
          <p:cNvSpPr/>
          <p:nvPr/>
        </p:nvSpPr>
        <p:spPr>
          <a:xfrm>
            <a:off x="2112264" y="3611880"/>
            <a:ext cx="347472" cy="365760"/>
          </a:xfrm>
          <a:prstGeom prst="downArrow">
            <a:avLst/>
          </a:prstGeom>
          <a:solidFill>
            <a:srgbClr val="9FB5A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560320" y="3657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D6F65"/>
                </a:solidFill>
              </a:rPr>
              <a:t>1 → many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5D6F65"/>
                </a:solidFill>
              </a:rPr>
              <a:t>About 78,000 hourly readings for 120 days of demo data</a:t>
            </a:r>
            <a:endParaRPr lang="en-US" sz="15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F6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Converting energy to carbon</a:t>
            </a:r>
            <a:endParaRPr lang="en-US" sz="3200" dirty="0"/>
          </a:p>
        </p:txBody>
      </p:sp>
      <p:sp>
        <p:nvSpPr>
          <p:cNvPr id="3" name="Formula card"/>
          <p:cNvSpPr/>
          <p:nvPr/>
        </p:nvSpPr>
        <p:spPr>
          <a:xfrm>
            <a:off x="548640" y="1371600"/>
            <a:ext cx="1106424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</a:rPr>
              <a:t>CO2 (kg)  =  Activity  ×  Emission factor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Worked example</a:t>
            </a:r>
            <a:endParaRPr lang="en-US" sz="2000" dirty="0"/>
          </a:p>
        </p:txBody>
      </p:sp>
      <p:sp>
        <p:nvSpPr>
          <p:cNvPr id="6" name="electricity used card"/>
          <p:cNvSpPr/>
          <p:nvPr/>
        </p:nvSpPr>
        <p:spPr>
          <a:xfrm>
            <a:off x="548640" y="3291840"/>
            <a:ext cx="178308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4290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5"/>
                </a:solidFill>
              </a:rPr>
              <a:t>1,000 kWh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1148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D6F65"/>
                </a:solidFill>
              </a:rPr>
              <a:t>electricity used</a:t>
            </a:r>
            <a:endParaRPr lang="en-US" sz="1400" dirty="0"/>
          </a:p>
        </p:txBody>
      </p:sp>
      <p:sp>
        <p:nvSpPr>
          <p:cNvPr id="9" name="kg CO2 per kWh (CEA) card"/>
          <p:cNvSpPr/>
          <p:nvPr/>
        </p:nvSpPr>
        <p:spPr>
          <a:xfrm>
            <a:off x="2468880" y="3291840"/>
            <a:ext cx="178308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560320" y="34290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</a:rPr>
              <a:t>×  0.716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41148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D6F65"/>
                </a:solidFill>
              </a:rPr>
              <a:t>kg CO2 per kWh (CEA)</a:t>
            </a:r>
            <a:endParaRPr lang="en-US" sz="1400" dirty="0"/>
          </a:p>
        </p:txBody>
      </p:sp>
      <p:sp>
        <p:nvSpPr>
          <p:cNvPr id="12" name="CO2 emitted card"/>
          <p:cNvSpPr/>
          <p:nvPr/>
        </p:nvSpPr>
        <p:spPr>
          <a:xfrm>
            <a:off x="4389120" y="3291840"/>
            <a:ext cx="178308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80560" y="34290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=  716 kg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41148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D6F65"/>
                </a:solidFill>
              </a:rPr>
              <a:t>CO2 emitted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788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Three scopes (GHG Protocol)</a:t>
            </a:r>
            <a:endParaRPr lang="en-US" sz="2000" dirty="0"/>
          </a:p>
        </p:txBody>
      </p:sp>
      <p:sp>
        <p:nvSpPr>
          <p:cNvPr id="16" name="Scope 1 dot"/>
          <p:cNvSpPr/>
          <p:nvPr/>
        </p:nvSpPr>
        <p:spPr>
          <a:xfrm>
            <a:off x="6583680" y="329184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32918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Fuel we burn: diesel, LPG</a:t>
            </a:r>
            <a:endParaRPr lang="en-US" sz="1700" dirty="0"/>
          </a:p>
        </p:txBody>
      </p:sp>
      <p:sp>
        <p:nvSpPr>
          <p:cNvPr id="19" name="Scope 2 dot"/>
          <p:cNvSpPr/>
          <p:nvPr/>
        </p:nvSpPr>
        <p:spPr>
          <a:xfrm>
            <a:off x="6583680" y="3840480"/>
            <a:ext cx="411480" cy="4114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38404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Electricity we buy</a:t>
            </a:r>
            <a:endParaRPr lang="en-US" sz="1700" dirty="0"/>
          </a:p>
        </p:txBody>
      </p:sp>
      <p:sp>
        <p:nvSpPr>
          <p:cNvPr id="22" name="Scope 3 dot"/>
          <p:cNvSpPr/>
          <p:nvPr/>
        </p:nvSpPr>
        <p:spPr>
          <a:xfrm>
            <a:off x="6583680" y="4389120"/>
            <a:ext cx="411480" cy="41148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83680" y="4389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43891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Water, waste, commuting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5D6F65"/>
                </a:solidFill>
              </a:rPr>
              <a:t>Factors are stored with a 'valid from' date, so updating the CEA value never changes old reports.</a:t>
            </a:r>
            <a:endParaRPr lang="en-US" sz="15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F6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4: Detecting waste automatically</a:t>
            </a:r>
            <a:endParaRPr lang="en-US" sz="3200" dirty="0"/>
          </a:p>
        </p:txBody>
      </p:sp>
      <p:sp>
        <p:nvSpPr>
          <p:cNvPr id="3" name="1. Learn normal icon circle"/>
          <p:cNvSpPr/>
          <p:nvPr/>
        </p:nvSpPr>
        <p:spPr>
          <a:xfrm>
            <a:off x="548640" y="1371600"/>
            <a:ext cx="822960" cy="8229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" name="1. Learn normal icon" descr="1. Learn normal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10" y="1585570"/>
            <a:ext cx="395021" cy="39502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389888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1. Learn normal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Median usage for each hour, from the last 4 weeks</a:t>
            </a:r>
            <a:endParaRPr lang="en-US" sz="1600" dirty="0"/>
          </a:p>
        </p:txBody>
      </p:sp>
      <p:sp>
        <p:nvSpPr>
          <p:cNvPr id="6" name="2. Compare icon circle"/>
          <p:cNvSpPr/>
          <p:nvPr/>
        </p:nvSpPr>
        <p:spPr>
          <a:xfrm>
            <a:off x="548640" y="283464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2. Compare icon" descr="2. Compar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610" y="3048610"/>
            <a:ext cx="395021" cy="39502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2852928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2. Compare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Is this hour far above normal? (robust z-score &gt; 4)</a:t>
            </a:r>
            <a:endParaRPr lang="en-US" sz="1600" dirty="0"/>
          </a:p>
        </p:txBody>
      </p:sp>
      <p:sp>
        <p:nvSpPr>
          <p:cNvPr id="9" name="3. Alert icon circle"/>
          <p:cNvSpPr/>
          <p:nvPr/>
        </p:nvSpPr>
        <p:spPr>
          <a:xfrm>
            <a:off x="548640" y="429768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3. Alert icon" descr="3. Aler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610" y="4511650"/>
            <a:ext cx="395021" cy="39502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4315968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3. Alert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Create a work order with the estimated cost</a:t>
            </a:r>
            <a:endParaRPr lang="en-US" sz="1600" dirty="0"/>
          </a:p>
        </p:txBody>
      </p:sp>
      <p:pic>
        <p:nvPicPr>
          <p:cNvPr id="12" name="Anomaly chart" descr="Chart showing Academic Block B night load far above the learnt normal profile, with flagged hours marke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1371600"/>
            <a:ext cx="6492240" cy="2834640"/>
          </a:xfrm>
          <a:prstGeom prst="rect">
            <a:avLst/>
          </a:prstGeom>
        </p:spPr>
      </p:pic>
      <p:sp>
        <p:nvSpPr>
          <p:cNvPr id="13" name="Result card"/>
          <p:cNvSpPr/>
          <p:nvPr/>
        </p:nvSpPr>
        <p:spPr>
          <a:xfrm>
            <a:off x="5120640" y="4434840"/>
            <a:ext cx="64922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4" name="Text 8"/>
          <p:cNvSpPr txBox="1"/>
          <p:nvPr/>
        </p:nvSpPr>
        <p:spPr>
          <a:xfrm>
            <a:off x="5349240" y="4572000"/>
            <a:ext cx="603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Result: </a:t>
            </a:r>
            <a:r>
              <a:rPr lang="en-US" sz="1600" dirty="0">
                <a:solidFill>
                  <a:schemeClr val="tx1"/>
                </a:solidFill>
              </a:rPr>
              <a:t>AC left on overnight in Academic Block B was caught the same night (about Rs. 11,600 wasted per night). All 6 planted faults found, 0 false alarms.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F6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5: Predicting next month's demand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Inputs</a:t>
            </a:r>
            <a:endParaRPr lang="en-US" sz="2000" dirty="0"/>
          </a:p>
        </p:txBody>
      </p:sp>
      <p:sp>
        <p:nvSpPr>
          <p:cNvPr id="4" name="Day of the week card"/>
          <p:cNvSpPr/>
          <p:nvPr/>
        </p:nvSpPr>
        <p:spPr>
          <a:xfrm>
            <a:off x="548640" y="1874520"/>
            <a:ext cx="329184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Day of the week</a:t>
            </a:r>
            <a:endParaRPr lang="en-US" sz="1600" dirty="0"/>
          </a:p>
        </p:txBody>
      </p:sp>
      <p:sp>
        <p:nvSpPr>
          <p:cNvPr id="6" name="Holidays &amp; vacations card"/>
          <p:cNvSpPr/>
          <p:nvPr/>
        </p:nvSpPr>
        <p:spPr>
          <a:xfrm>
            <a:off x="548640" y="2560320"/>
            <a:ext cx="329184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560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Holidays &amp; vacations</a:t>
            </a:r>
            <a:endParaRPr lang="en-US" sz="1600" dirty="0"/>
          </a:p>
        </p:txBody>
      </p:sp>
      <p:sp>
        <p:nvSpPr>
          <p:cNvPr id="8" name="Temperature card"/>
          <p:cNvSpPr/>
          <p:nvPr/>
        </p:nvSpPr>
        <p:spPr>
          <a:xfrm>
            <a:off x="548640" y="3246120"/>
            <a:ext cx="329184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246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Temperature</a:t>
            </a:r>
            <a:endParaRPr lang="en-US" sz="1600" dirty="0"/>
          </a:p>
        </p:txBody>
      </p:sp>
      <p:sp>
        <p:nvSpPr>
          <p:cNvPr id="10" name="Long-term trend card"/>
          <p:cNvSpPr/>
          <p:nvPr/>
        </p:nvSpPr>
        <p:spPr>
          <a:xfrm>
            <a:off x="548640" y="3931920"/>
            <a:ext cx="329184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931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Long-term trend</a:t>
            </a:r>
            <a:endParaRPr lang="en-US" sz="1600" dirty="0"/>
          </a:p>
        </p:txBody>
      </p:sp>
      <p:sp>
        <p:nvSpPr>
          <p:cNvPr id="12" name="Model card"/>
          <p:cNvSpPr/>
          <p:nvPr/>
        </p:nvSpPr>
        <p:spPr>
          <a:xfrm>
            <a:off x="548640" y="4754880"/>
            <a:ext cx="329184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7548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Linear regression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NumPy least squares</a:t>
            </a:r>
            <a:endParaRPr lang="en-US" sz="1600" dirty="0"/>
          </a:p>
        </p:txBody>
      </p:sp>
      <p:graphicFrame>
        <p:nvGraphicFramePr>
          <p:cNvPr id="14" name="Forecast chart"/>
          <p:cNvGraphicFramePr/>
          <p:nvPr/>
        </p:nvGraphicFramePr>
        <p:xfrm>
          <a:off x="4206240" y="1325880"/>
          <a:ext cx="74066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Accuracy card"/>
          <p:cNvSpPr/>
          <p:nvPr/>
        </p:nvSpPr>
        <p:spPr>
          <a:xfrm>
            <a:off x="4206240" y="5349240"/>
            <a:ext cx="7406640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434840" y="534924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Accuracy 97.6%  ·  dips are weekends and holidays  ·  +1 °C ≈ +935 kWh/day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F6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 and security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D6F65"/>
                </a:solidFill>
              </a:rPr>
              <a:t>How a user logs in and gets data</a:t>
            </a:r>
            <a:endParaRPr lang="en-US" sz="1800" dirty="0"/>
          </a:p>
        </p:txBody>
      </p:sp>
      <p:sp>
        <p:nvSpPr>
          <p:cNvPr id="4" name="Login icon circle"/>
          <p:cNvSpPr/>
          <p:nvPr/>
        </p:nvSpPr>
        <p:spPr>
          <a:xfrm>
            <a:off x="1325880" y="182880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Login icon" descr="Login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737" y="2054657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834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2"/>
                </a:solidFill>
              </a:rPr>
              <a:t>Login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46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D6F65"/>
                </a:solidFill>
              </a:rPr>
              <a:t>username + password</a:t>
            </a:r>
            <a:endParaRPr lang="en-US" sz="1500" dirty="0"/>
          </a:p>
        </p:txBody>
      </p:sp>
      <p:sp>
        <p:nvSpPr>
          <p:cNvPr id="8" name="Login arrow 1"/>
          <p:cNvSpPr/>
          <p:nvPr/>
        </p:nvSpPr>
        <p:spPr>
          <a:xfrm>
            <a:off x="3063240" y="2103120"/>
            <a:ext cx="365760" cy="347472"/>
          </a:xfrm>
          <a:prstGeom prst="rightArrow">
            <a:avLst/>
          </a:prstGeom>
          <a:solidFill>
            <a:srgbClr val="9FB5A8"/>
          </a:solidFill>
          <a:ln/>
        </p:spPr>
      </p:sp>
      <p:sp>
        <p:nvSpPr>
          <p:cNvPr id="9" name="JWT token icon circle"/>
          <p:cNvSpPr/>
          <p:nvPr/>
        </p:nvSpPr>
        <p:spPr>
          <a:xfrm>
            <a:off x="4206240" y="182880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JWT token icon" descr="JWT token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2097" y="2054657"/>
            <a:ext cx="416966" cy="41696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29000" y="2834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2"/>
                </a:solidFill>
              </a:rPr>
              <a:t>JWT token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3246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D6F65"/>
                </a:solidFill>
              </a:rPr>
              <a:t>valid 30 minutes</a:t>
            </a:r>
            <a:endParaRPr lang="en-US" sz="1500" dirty="0"/>
          </a:p>
        </p:txBody>
      </p:sp>
      <p:sp>
        <p:nvSpPr>
          <p:cNvPr id="13" name="Login arrow 2"/>
          <p:cNvSpPr/>
          <p:nvPr/>
        </p:nvSpPr>
        <p:spPr>
          <a:xfrm>
            <a:off x="5943600" y="2103120"/>
            <a:ext cx="365760" cy="347472"/>
          </a:xfrm>
          <a:prstGeom prst="rightArrow">
            <a:avLst/>
          </a:prstGeom>
          <a:solidFill>
            <a:srgbClr val="9FB5A8"/>
          </a:solidFill>
          <a:ln/>
        </p:spPr>
      </p:sp>
      <p:sp>
        <p:nvSpPr>
          <p:cNvPr id="14" name="API request icon circle"/>
          <p:cNvSpPr/>
          <p:nvPr/>
        </p:nvSpPr>
        <p:spPr>
          <a:xfrm>
            <a:off x="7086600" y="1828800"/>
            <a:ext cx="868680" cy="8686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API request icon" descr="API reques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2457" y="2054657"/>
            <a:ext cx="416966" cy="41696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834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2"/>
                </a:solidFill>
              </a:rPr>
              <a:t>API request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3246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D6F65"/>
                </a:solidFill>
              </a:rPr>
              <a:t>token sent in header</a:t>
            </a:r>
            <a:endParaRPr lang="en-US" sz="1500" dirty="0"/>
          </a:p>
        </p:txBody>
      </p:sp>
      <p:sp>
        <p:nvSpPr>
          <p:cNvPr id="18" name="Login arrow 3"/>
          <p:cNvSpPr/>
          <p:nvPr/>
        </p:nvSpPr>
        <p:spPr>
          <a:xfrm>
            <a:off x="8823960" y="2103120"/>
            <a:ext cx="365760" cy="347472"/>
          </a:xfrm>
          <a:prstGeom prst="rightArrow">
            <a:avLst/>
          </a:prstGeom>
          <a:solidFill>
            <a:srgbClr val="9FB5A8"/>
          </a:solidFill>
          <a:ln/>
        </p:spPr>
      </p:sp>
      <p:sp>
        <p:nvSpPr>
          <p:cNvPr id="19" name="Role check icon circle"/>
          <p:cNvSpPr/>
          <p:nvPr/>
        </p:nvSpPr>
        <p:spPr>
          <a:xfrm>
            <a:off x="9966960" y="182880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Role check icon" descr="Role check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2817" y="2054657"/>
            <a:ext cx="416966" cy="41696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89720" y="2834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2"/>
                </a:solidFill>
              </a:rPr>
              <a:t>Role check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9189720" y="3246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D6F65"/>
                </a:solidFill>
              </a:rPr>
              <a:t>admin / facility / student</a:t>
            </a:r>
            <a:endParaRPr lang="en-US" sz="1500" dirty="0"/>
          </a:p>
        </p:txBody>
      </p:sp>
      <p:sp>
        <p:nvSpPr>
          <p:cNvPr id="23" name="Endpoints card"/>
          <p:cNvSpPr/>
          <p:nvPr/>
        </p:nvSpPr>
        <p:spPr>
          <a:xfrm>
            <a:off x="548640" y="3977640"/>
            <a:ext cx="11064240" cy="2011680"/>
          </a:xfrm>
          <a:prstGeom prst="roundRect">
            <a:avLst>
              <a:gd name="adj" fmla="val 5455"/>
            </a:avLst>
          </a:prstGeom>
          <a:solidFill>
            <a:srgbClr val="13261C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822960" y="42062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D7EA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/api/analytics/overview/   → KPIs and carbon totals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D7EA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/api/analytics/live/       → live building status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D7EA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/api/analytics/forecast/   → 30-day forecast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D7EA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/api/alerts/12/           → resolve an alert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D7EA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/api/reports/ghg.pdf       → download PDF report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F6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Frontend: the web dashboard</a:t>
            </a:r>
            <a:endParaRPr lang="en-US" sz="3200" dirty="0"/>
          </a:p>
        </p:txBody>
      </p:sp>
      <p:pic>
        <p:nvPicPr>
          <p:cNvPr id="3" name="Dashboard screenshot" descr="Screenshot of the management 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6949440" cy="4370832"/>
          </a:xfrm>
          <a:prstGeom prst="rect">
            <a:avLst/>
          </a:prstGeom>
        </p:spPr>
      </p:pic>
      <p:sp>
        <p:nvSpPr>
          <p:cNvPr id="4" name="13 pages icon circle"/>
          <p:cNvSpPr/>
          <p:nvPr/>
        </p:nvSpPr>
        <p:spPr>
          <a:xfrm>
            <a:off x="7818120" y="13258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13 pages icon" descr="13 page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8315" y="1516075"/>
            <a:ext cx="351130" cy="35113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732520" y="1307592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13 pages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Dashboard, energy, water, waste, alerts…</a:t>
            </a:r>
            <a:endParaRPr lang="en-US" sz="1400" dirty="0"/>
          </a:p>
        </p:txBody>
      </p:sp>
      <p:sp>
        <p:nvSpPr>
          <p:cNvPr id="7" name="Live updates icon circle"/>
          <p:cNvSpPr/>
          <p:nvPr/>
        </p:nvSpPr>
        <p:spPr>
          <a:xfrm>
            <a:off x="7818120" y="2441448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8" name="Live updates icon" descr="Live update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8315" y="2631643"/>
            <a:ext cx="351130" cy="35113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732520" y="242316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Live updates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React Query refreshes every 30 s</a:t>
            </a:r>
            <a:endParaRPr lang="en-US" sz="1400" dirty="0"/>
          </a:p>
        </p:txBody>
      </p:sp>
      <p:sp>
        <p:nvSpPr>
          <p:cNvPr id="10" name="Charts &amp; map icon circle"/>
          <p:cNvSpPr/>
          <p:nvPr/>
        </p:nvSpPr>
        <p:spPr>
          <a:xfrm>
            <a:off x="7818120" y="3557016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Charts &amp; map icon" descr="Charts &amp; map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8315" y="3747211"/>
            <a:ext cx="351130" cy="35113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732520" y="3538728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Charts &amp; map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Recharts + Leaflet / OpenStreetMap</a:t>
            </a:r>
            <a:endParaRPr lang="en-US" sz="1400" dirty="0"/>
          </a:p>
        </p:txBody>
      </p:sp>
      <p:sp>
        <p:nvSpPr>
          <p:cNvPr id="13" name="Responsive icon circle"/>
          <p:cNvSpPr/>
          <p:nvPr/>
        </p:nvSpPr>
        <p:spPr>
          <a:xfrm>
            <a:off x="7818120" y="4672584"/>
            <a:ext cx="731520" cy="7315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4" name="Responsive icon" descr="Responsive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8315" y="4862779"/>
            <a:ext cx="351130" cy="35113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8732520" y="4654296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Responsive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Works on laptop and phone</a:t>
            </a:r>
            <a:endParaRPr lang="en-US" sz="1400" dirty="0"/>
          </a:p>
        </p:txBody>
      </p:sp>
      <p:sp>
        <p:nvSpPr>
          <p:cNvPr id="16" name="Text 9"/>
          <p:cNvSpPr txBox="1"/>
          <p:nvPr/>
        </p:nvSpPr>
        <p:spPr>
          <a:xfrm>
            <a:off x="548640" y="58064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D6F65"/>
                </a:solidFill>
              </a:rPr>
              <a:t>Built with React 19 + TypeScript, bundled by Vite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F6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results</a:t>
            </a:r>
            <a:endParaRPr lang="en-US" sz="3200" dirty="0"/>
          </a:p>
        </p:txBody>
      </p:sp>
      <p:sp>
        <p:nvSpPr>
          <p:cNvPr id="3" name="automated tests pass card"/>
          <p:cNvSpPr/>
          <p:nvPr/>
        </p:nvSpPr>
        <p:spPr>
          <a:xfrm>
            <a:off x="548640" y="1371600"/>
            <a:ext cx="26060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/ 18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468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automated tests pass</a:t>
            </a:r>
            <a:endParaRPr lang="en-US" sz="1600" dirty="0"/>
          </a:p>
        </p:txBody>
      </p:sp>
      <p:sp>
        <p:nvSpPr>
          <p:cNvPr id="6" name="faults detected card"/>
          <p:cNvSpPr/>
          <p:nvPr/>
        </p:nvSpPr>
        <p:spPr>
          <a:xfrm>
            <a:off x="3383280" y="1371600"/>
            <a:ext cx="26060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20440" y="15087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6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468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faults detected</a:t>
            </a:r>
            <a:endParaRPr lang="en-US" sz="1600" dirty="0"/>
          </a:p>
        </p:txBody>
      </p:sp>
      <p:sp>
        <p:nvSpPr>
          <p:cNvPr id="9" name="forecast accuracy card"/>
          <p:cNvSpPr/>
          <p:nvPr/>
        </p:nvSpPr>
        <p:spPr>
          <a:xfrm>
            <a:off x="6217920" y="1371600"/>
            <a:ext cx="26060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15087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97.6%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468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forecast accuracy</a:t>
            </a:r>
            <a:endParaRPr lang="en-US" sz="1600" dirty="0"/>
          </a:p>
        </p:txBody>
      </p:sp>
      <p:sp>
        <p:nvSpPr>
          <p:cNvPr id="12" name="API response time card"/>
          <p:cNvSpPr/>
          <p:nvPr/>
        </p:nvSpPr>
        <p:spPr>
          <a:xfrm>
            <a:off x="9052560" y="1371600"/>
            <a:ext cx="26060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89720" y="15087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 s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189720" y="2468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API response time</a:t>
            </a:r>
            <a:endParaRPr lang="en-US" sz="1600" dirty="0"/>
          </a:p>
        </p:txBody>
      </p:sp>
      <p:graphicFrame>
        <p:nvGraphicFramePr>
          <p:cNvPr id="15" name="Emissions by source chart"/>
          <p:cNvGraphicFramePr/>
          <p:nvPr/>
        </p:nvGraphicFramePr>
        <p:xfrm>
          <a:off x="548640" y="3474720"/>
          <a:ext cx="694944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Footprint card"/>
          <p:cNvSpPr/>
          <p:nvPr/>
        </p:nvSpPr>
        <p:spPr>
          <a:xfrm>
            <a:off x="7772400" y="3474720"/>
            <a:ext cx="3840480" cy="26974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955280" y="36576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7,975</a:t>
            </a:r>
            <a:endParaRPr 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7955280" y="4480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tonnes CO2e per year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046720" y="4983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D6F65"/>
                </a:solidFill>
              </a:rPr>
              <a:t>1.53 t per student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046720" y="5394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D6F65"/>
                </a:solidFill>
              </a:rPr>
              <a:t>Electricity is about two-thirds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F6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417320"/>
            <a:ext cx="6949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sensor readings to climate action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033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IoT data in → carbon, alerts and forecasts out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CFE3D7"/>
                </a:solidFill>
              </a:rPr>
              <a:t>Python + Django REST API with a GHG carbon engine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CFE3D7"/>
                </a:solidFill>
              </a:rPr>
              <a:t>Automatic anomaly detection and demand forecasting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CFE3D7"/>
                </a:solidFill>
              </a:rPr>
              <a:t>React dashboards for admins, facility staff and students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CFE3D7"/>
                </a:solidFill>
              </a:rPr>
              <a:t>Next: real ESP32 meters, MQTT and AI-based AC control</a:t>
            </a:r>
            <a:endParaRPr lang="en-US" sz="1700" dirty="0"/>
          </a:p>
        </p:txBody>
      </p:sp>
      <p:sp>
        <p:nvSpPr>
          <p:cNvPr id="5" name="Globe icon circle"/>
          <p:cNvSpPr/>
          <p:nvPr/>
        </p:nvSpPr>
        <p:spPr>
          <a:xfrm>
            <a:off x="8869680" y="1737360"/>
            <a:ext cx="2377440" cy="23774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Globe icon" descr="Glob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7814" y="2355494"/>
            <a:ext cx="1141171" cy="114117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0" y="43434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983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FE3D7"/>
                </a:solidFill>
              </a:rPr>
              <a:t>Questions welcome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coSphere Forest">
  <a:themeElements>
    <a:clrScheme name="EcoSphere Forest">
      <a:dk1>
        <a:srgbClr val="13261C"/>
      </a:dk1>
      <a:lt1>
        <a:srgbClr val="FFFFFF"/>
      </a:lt1>
      <a:dk2>
        <a:srgbClr val="1F5E3D"/>
      </a:dk2>
      <a:lt2>
        <a:srgbClr val="EEF4F0"/>
      </a:lt2>
      <a:accent1>
        <a:srgbClr val="1F7A4D"/>
      </a:accent1>
      <a:accent2>
        <a:srgbClr val="F2B33D"/>
      </a:accent2>
      <a:accent3>
        <a:srgbClr val="2A9BB5"/>
      </a:accent3>
      <a:accent4>
        <a:srgbClr val="E07A3F"/>
      </a:accent4>
      <a:accent5>
        <a:srgbClr val="3B82C4"/>
      </a:accent5>
      <a:accent6>
        <a:srgbClr val="8B6CC1"/>
      </a:accent6>
      <a:hlink>
        <a:srgbClr val="2A9BB5"/>
      </a:hlink>
      <a:folHlink>
        <a:srgbClr val="8B6CC1"/>
      </a:folHlink>
    </a:clrScheme>
    <a:fontScheme name="EcoSphere Fores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896</Words>
  <Application>Microsoft Office PowerPoint</Application>
  <PresentationFormat>Widescreen</PresentationFormat>
  <Paragraphs>190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EcoSphere Forest</vt:lpstr>
      <vt:lpstr>Smart Campus Sustainability &amp; Carbon Footprint Monitoring System</vt:lpstr>
      <vt:lpstr>The idea in one slide</vt:lpstr>
      <vt:lpstr>Technology stack (100% free and open source)</vt:lpstr>
      <vt:lpstr>System architecture</vt:lpstr>
      <vt:lpstr>Step 1: Collecting sensor data</vt:lpstr>
      <vt:lpstr>Step 2: Storing it in the database</vt:lpstr>
      <vt:lpstr>Step 3: Converting energy to carbon</vt:lpstr>
      <vt:lpstr>Step 4: Detecting waste automatically</vt:lpstr>
      <vt:lpstr>Step 5: Predicting next month's demand</vt:lpstr>
      <vt:lpstr>REST API and security</vt:lpstr>
      <vt:lpstr>Frontend: the web dashboard</vt:lpstr>
      <vt:lpstr>Testing and results</vt:lpstr>
      <vt:lpstr>From sensor readings to climate action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Campus Sustainability and Carbon Footprint Monitoring System</dc:title>
  <dc:subject>21CSC203P Advanced Programming Practice project</dc:subject>
  <dc:creator>Yajat M Rawal, S Surendar, Surya Swaminathan, Shivraj Singh</dc:creator>
  <cp:lastModifiedBy>Surya Swaminathan</cp:lastModifiedBy>
  <cp:revision>1</cp:revision>
  <dcterms:created xsi:type="dcterms:W3CDTF">2026-10-26T16:20:32Z</dcterms:created>
  <dcterms:modified xsi:type="dcterms:W3CDTF">2026-10-26T16:26:25Z</dcterms:modified>
</cp:coreProperties>
</file>